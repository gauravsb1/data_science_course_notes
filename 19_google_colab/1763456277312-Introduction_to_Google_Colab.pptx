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443038"/>
            <a:ext cx="2000250" cy="2000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0" y="1510205"/>
            <a:ext cx="36576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F4D"/>
                </a:solidFill>
              </a:rPr>
              <a:t>Introduction to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F4D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F4D"/>
                </a:solidFill>
              </a:rPr>
              <a:t>Google Colab</a:t>
            </a:r>
            <a:endParaRPr lang="en-US" sz="3294" dirty="0"/>
          </a:p>
        </p:txBody>
      </p:sp>
      <p:sp>
        <p:nvSpPr>
          <p:cNvPr id="7" name="Text 3"/>
          <p:cNvSpPr/>
          <p:nvPr/>
        </p:nvSpPr>
        <p:spPr>
          <a:xfrm>
            <a:off x="5029200" y="2944648"/>
            <a:ext cx="36576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The Most Underrated Tool for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Python Development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029200" y="3647582"/>
            <a:ext cx="3657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5FE8"/>
                </a:solidFill>
              </a:rPr>
              <a:t>A Comprehensive Guide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00513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5813"/>
            <a:ext cx="3543300" cy="3571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71988" y="1184495"/>
            <a:ext cx="43148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F4D"/>
                </a:solidFill>
              </a:rPr>
              <a:t>What Makes Google Colab Special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471988" y="1573104"/>
            <a:ext cx="4314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Google Colab is one of the most underrated tools in the developer ecosystem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614863" y="2384589"/>
            <a:ext cx="338742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Cloud-based runtime environment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accessible from anywhere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4614863" y="2681753"/>
            <a:ext cx="33169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Works seamlessly on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phones, tablets, iPads, and computers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4614863" y="2978916"/>
            <a:ext cx="337427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No installation or setup required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- just open and start coding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4614863" y="3276079"/>
            <a:ext cx="332683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Free access to computing resources including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GPUs and TPUs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4614863" y="3573242"/>
            <a:ext cx="263314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Built on the familiar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Jupyter notebook interface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4843463" y="3984706"/>
            <a:ext cx="271004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4A5FE8"/>
                </a:solidFill>
              </a:rPr>
              <a:t>A powerful development environment without any local setup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91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90027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85991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614363" y="357188"/>
            <a:ext cx="4735497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F4D"/>
                </a:solidFill>
              </a:rPr>
              <a:t>Runtime Capabilities and Tricks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14363" y="717221"/>
            <a:ext cx="473549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Google Colab offers powerful runtime features that enhance your workflow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85788" y="1122964"/>
            <a:ext cx="379715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Multiple runtime types: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Standard, GPU-accelerated, and TPU-enabled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900613" y="1122964"/>
            <a:ext cx="350936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Session management: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Save and restore your work automatically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85788" y="1448702"/>
            <a:ext cx="32968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Resource monitoring: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Track RAM and disk usage in real-time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900613" y="1448702"/>
            <a:ext cx="310613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Package installation: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Install any Python library on-the-fly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85788" y="1774441"/>
            <a:ext cx="365338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Runtime tricks: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Reconnect, restart, and manage sessions efficiently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28625" y="2128754"/>
            <a:ext cx="8286750" cy="4000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128754"/>
            <a:ext cx="28575" cy="4000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243054"/>
            <a:ext cx="40616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PRO TIP: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 You can customize your runtime environment for specific project needs</a:t>
            </a:r>
            <a:endParaRPr lang="en-US" sz="734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100304"/>
            <a:ext cx="82867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8" y="470064"/>
            <a:ext cx="2099704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F4D"/>
                </a:solidFill>
              </a:rPr>
              <a:t>Language Support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00063" y="1071563"/>
            <a:ext cx="8143875" cy="120868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00063" y="1071563"/>
            <a:ext cx="42863" cy="1208689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6" name="Text 3"/>
          <p:cNvSpPr/>
          <p:nvPr/>
        </p:nvSpPr>
        <p:spPr>
          <a:xfrm>
            <a:off x="1257300" y="1285875"/>
            <a:ext cx="16003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F4D"/>
                </a:solidFill>
              </a:rPr>
              <a:t>Primary Focus: Python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14375" y="1628775"/>
            <a:ext cx="7715250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Google Colab supports multiple programming languages, but </a:t>
            </a:r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4A5FE8"/>
                </a:solidFill>
              </a:rPr>
              <a:t>Python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 is the most widely used and has the richest ecosystem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with the best integration with Colab's features. This tutorial concentrates on Python development.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00063" y="2866039"/>
            <a:ext cx="8143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D3748"/>
                </a:solidFill>
              </a:rPr>
              <a:t>Also Supported: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885825" y="3457519"/>
            <a:ext cx="346081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1F4D"/>
                </a:solidFill>
              </a:rPr>
              <a:t>Julia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714375" y="3823274"/>
            <a:ext cx="35290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High-performance numerical computing language designed for scientific and technical computing with speed comparable to C.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072063" y="3457519"/>
            <a:ext cx="103752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1F4D"/>
                </a:solidFill>
              </a:rPr>
              <a:t>R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900613" y="3823274"/>
            <a:ext cx="35290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Statistical computing and graphics language widely used in data analysis, statistical modeling, and visualization.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48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14350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F4D"/>
                </a:solidFill>
              </a:rPr>
              <a:t>Getting Started with Colab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74384"/>
            <a:ext cx="8286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Creating your first Google Colab notebook is simple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1365852"/>
            <a:ext cx="8286750" cy="2717471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650" y="1594452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628650" y="2051652"/>
            <a:ext cx="3729038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Go to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Google Drive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28650" y="2303106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Navigate to drive.google.com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772025" y="1594452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A5FE8"/>
                </a:solidFill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4772025" y="2051652"/>
            <a:ext cx="37433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Click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New → More → Google Colaboratory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772025" y="2303106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Find it in the New menu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628650" y="2946043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03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628650" y="3403243"/>
            <a:ext cx="3729038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If you don't see Colaboratory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28650" y="3654698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Click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D3748"/>
                </a:solidFill>
              </a:rPr>
              <a:t>Connect more apps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 and search for it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772025" y="2946043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A5FE8"/>
                </a:solidFill>
              </a:rPr>
              <a:t>04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4772025" y="3403243"/>
            <a:ext cx="37433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Your new notebook opens immediately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72025" y="3654698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Ready to code right away!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28625" y="4311923"/>
            <a:ext cx="8286750" cy="49718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4311923"/>
            <a:ext cx="8286750" cy="28575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20" name="Text 17"/>
          <p:cNvSpPr/>
          <p:nvPr/>
        </p:nvSpPr>
        <p:spPr>
          <a:xfrm>
            <a:off x="2961782" y="4454798"/>
            <a:ext cx="342043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F4D"/>
                </a:solidFill>
              </a:rPr>
              <a:t>Your notebooks are automatically saved to your Google Drive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72113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885155"/>
            <a:ext cx="47720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Q: If we have Jupyter, why should I use Google Colab?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57188" y="1492374"/>
            <a:ext cx="47720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F4D"/>
                </a:solidFill>
              </a:rPr>
              <a:t>A: Parallel execution and cloud advantages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57188" y="2092449"/>
            <a:ext cx="47720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Key differences: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14350" y="2401053"/>
            <a:ext cx="363248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Run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multiple notebook versions simultaneously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without conflicts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14350" y="2698217"/>
            <a:ext cx="319278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No local resource limitations - use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cloud computing power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14350" y="2995380"/>
            <a:ext cx="352468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Collaboration features: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Share and co-edit notebooks in real-time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14350" y="3292543"/>
            <a:ext cx="203716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Pre-installed libraries and frameworks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14350" y="3589706"/>
            <a:ext cx="205232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Access from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any device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without setup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71488" y="4129757"/>
            <a:ext cx="35912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4A5FE8"/>
                </a:solidFill>
              </a:rPr>
              <a:t>Jupyter is great for local work, but Colab excels in flexibility and accessibility</a:t>
            </a:r>
            <a:endParaRPr lang="en-US" sz="78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13" y="607219"/>
            <a:ext cx="3228975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428625"/>
            <a:ext cx="8143875" cy="6372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0063" y="1044411"/>
            <a:ext cx="8143875" cy="2143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428625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Q: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214438" y="485775"/>
            <a:ext cx="7429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F4D"/>
                </a:solidFill>
              </a:rPr>
              <a:t>Can I use Google Colab with AI?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500063" y="1330161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4A5FE8"/>
                </a:solidFill>
              </a:rPr>
              <a:t>A: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1214438" y="1480179"/>
            <a:ext cx="74295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A5FE8"/>
                </a:solidFill>
              </a:rPr>
              <a:t>Yes! Gemini integration is a game-changer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1400175" y="2055949"/>
            <a:ext cx="310133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Built-in Gemini AI</a:t>
            </a:r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 for code assistance and generation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1400175" y="2393128"/>
            <a:ext cx="2879713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Get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code suggestions and explanations</a:t>
            </a:r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 instantly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1400175" y="2730308"/>
            <a:ext cx="2243584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Debug errors</a:t>
            </a:r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 with AI-powered insights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1400175" y="3067487"/>
            <a:ext cx="3210027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Generate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boilerplate code and functions</a:t>
            </a:r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 automatically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1400175" y="3404667"/>
            <a:ext cx="2202173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Natural language to code</a:t>
            </a:r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2D3748"/>
                </a:solidFill>
              </a:rPr>
              <a:t> conversion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1214438" y="3827571"/>
            <a:ext cx="7429500" cy="46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1214438" y="3827571"/>
            <a:ext cx="35719" cy="468613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16" name="Text 13"/>
          <p:cNvSpPr/>
          <p:nvPr/>
        </p:nvSpPr>
        <p:spPr>
          <a:xfrm>
            <a:off x="1385888" y="3970446"/>
            <a:ext cx="70866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F4D"/>
                </a:solidFill>
              </a:rPr>
              <a:t>This native AI integration significantly accelerates development workflow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186113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117424"/>
            <a:ext cx="26289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QUESTION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85750" y="2437442"/>
            <a:ext cx="262890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F4D"/>
                </a:solidFill>
              </a:rPr>
              <a:t>Is Google Colab free or paid?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3557588" y="787961"/>
            <a:ext cx="52292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A5FE8"/>
                </a:solidFill>
              </a:rPr>
              <a:t>ANSWER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3557588" y="1079404"/>
            <a:ext cx="52292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A1F4D"/>
                </a:solidFill>
              </a:rPr>
              <a:t>Free tier is sufficient for most users</a:t>
            </a:r>
            <a:endParaRPr lang="en-US" sz="1397" dirty="0"/>
          </a:p>
        </p:txBody>
      </p:sp>
      <p:sp>
        <p:nvSpPr>
          <p:cNvPr id="9" name="Shape 6"/>
          <p:cNvSpPr/>
          <p:nvPr/>
        </p:nvSpPr>
        <p:spPr>
          <a:xfrm>
            <a:off x="3557588" y="1665191"/>
            <a:ext cx="5229225" cy="62292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57588" y="1665191"/>
            <a:ext cx="28575" cy="622929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11" name="Text 8"/>
          <p:cNvSpPr/>
          <p:nvPr/>
        </p:nvSpPr>
        <p:spPr>
          <a:xfrm>
            <a:off x="3700463" y="1779491"/>
            <a:ext cx="47720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Free Version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700463" y="2002371"/>
            <a:ext cx="4772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Adequate for learning, prototyping, and moderate workloads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3557588" y="2402421"/>
            <a:ext cx="5229225" cy="62292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3557588" y="2402421"/>
            <a:ext cx="28575" cy="62292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3700463" y="2516721"/>
            <a:ext cx="47720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Colab Pro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700463" y="2739600"/>
            <a:ext cx="4772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Enhanced resources for power users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($9.99/month)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557588" y="3139650"/>
            <a:ext cx="5229225" cy="62292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3557588" y="3139650"/>
            <a:ext cx="28575" cy="622929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19" name="Text 16"/>
          <p:cNvSpPr/>
          <p:nvPr/>
        </p:nvSpPr>
        <p:spPr>
          <a:xfrm>
            <a:off x="3700463" y="3253950"/>
            <a:ext cx="47720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Colab Pro+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700463" y="3476830"/>
            <a:ext cx="4772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Maximum resources and priority access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FE8"/>
                </a:solidFill>
              </a:rPr>
              <a:t>($49.99/month)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3557588" y="3962605"/>
            <a:ext cx="5229225" cy="39290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22" name="Shape 19"/>
          <p:cNvSpPr/>
          <p:nvPr/>
        </p:nvSpPr>
        <p:spPr>
          <a:xfrm>
            <a:off x="3557588" y="3962605"/>
            <a:ext cx="5229225" cy="2143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3814763" y="4073333"/>
            <a:ext cx="43155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D3748"/>
                </a:solidFill>
              </a:rPr>
              <a:t>Recommendation: Start with free tier — upgrade only when you hit resource limits</a:t>
            </a:r>
            <a:endParaRPr lang="en-US" sz="7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5850" y="392906"/>
            <a:ext cx="66456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QUESTION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500063" y="712924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F4D"/>
                </a:solidFill>
              </a:rPr>
              <a:t>How long can I use a Colab runtime?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942975" y="1250128"/>
            <a:ext cx="53633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A5FE8"/>
                </a:solidFill>
              </a:rPr>
              <a:t>ANSWER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00063" y="1555859"/>
            <a:ext cx="8143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D3748"/>
                </a:solidFill>
              </a:rPr>
              <a:t>According to the official FAQ: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00063" y="2164500"/>
            <a:ext cx="8143875" cy="780064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Shape 5"/>
          <p:cNvSpPr/>
          <p:nvPr/>
        </p:nvSpPr>
        <p:spPr>
          <a:xfrm>
            <a:off x="500063" y="2164500"/>
            <a:ext cx="42863" cy="780064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2335950"/>
            <a:ext cx="7586663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1A1F4D"/>
                </a:solidFill>
              </a:rPr>
              <a:t>"In the version of Colab that is free of charge, notebooks can run for at most </a:t>
            </a:r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4A5FE8"/>
                </a:solidFill>
              </a:rPr>
              <a:t>12 hours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1A1F4D"/>
                </a:solidFill>
              </a:rPr>
              <a:t>, depending on availability and your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1A1F4D"/>
                </a:solidFill>
              </a:rPr>
              <a:t>usage patterns."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00063" y="3087439"/>
            <a:ext cx="8143875" cy="561482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500063" y="3087439"/>
            <a:ext cx="42863" cy="56148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857250" y="3258889"/>
            <a:ext cx="2435628" cy="218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1A1F4D"/>
                </a:solidFill>
              </a:rPr>
              <a:t>"Runtimes will </a:t>
            </a:r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time out if you are idle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1A1F4D"/>
                </a:solidFill>
              </a:rPr>
              <a:t>."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00063" y="3877521"/>
            <a:ext cx="8143875" cy="3643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00063" y="3877521"/>
            <a:ext cx="8143875" cy="2143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1071563" y="4048971"/>
            <a:ext cx="493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A5FE8"/>
                </a:solidFill>
              </a:rPr>
              <a:t>BEST PRACTICE: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D3748"/>
                </a:solidFill>
              </a:rPr>
              <a:t> Save your work frequently and be mindful of idle time to avoid losing progress</a:t>
            </a:r>
            <a:endParaRPr lang="en-US" sz="7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34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584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91555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614363" y="285750"/>
            <a:ext cx="376665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Q: What if I need it to read files?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614363" y="548618"/>
            <a:ext cx="37666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1F4D"/>
                </a:solidFill>
              </a:rPr>
              <a:t>A: Multiple options for file access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0" y="1191555"/>
            <a:ext cx="9144000" cy="247168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3648949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" y="1627324"/>
            <a:ext cx="128330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Mount Google Drive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642938" y="1918767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Access your entire Drive storage directly from your notebook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4929188" y="1627324"/>
            <a:ext cx="77886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Upload Files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772025" y="1918767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Direct upload to the runtime environment for immediate use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800100" y="2447404"/>
            <a:ext cx="13415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Download from URLs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42938" y="2738847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Fetch data directly from the internet using wget or Python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929188" y="2447404"/>
            <a:ext cx="16277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Connect to Cloud Storage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772025" y="2738847"/>
            <a:ext cx="3729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AWS S3, Google Cloud Storage, and other cloud platforms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728663" y="3238909"/>
            <a:ext cx="339593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4A5FE8"/>
                </a:solidFill>
              </a:rPr>
              <a:t>We'll explore mounting drives and file uploads in detail in upcoming sections</a:t>
            </a:r>
            <a:endParaRPr lang="en-US" sz="727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827543"/>
            <a:ext cx="8286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14913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1341658"/>
            <a:ext cx="43148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F4D"/>
                </a:solidFill>
              </a:rPr>
              <a:t>Summary and Next Steps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357188" y="1701691"/>
            <a:ext cx="43148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F4D"/>
                </a:solidFill>
              </a:rPr>
              <a:t>Google Colab empowers developers with accessible cloud computing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57188" y="2136009"/>
            <a:ext cx="431482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1F4D"/>
                </a:solidFill>
              </a:rPr>
              <a:t>Key Takeaways: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28638" y="2473189"/>
            <a:ext cx="286255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Free, cloud-based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Python development environment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28638" y="2798927"/>
            <a:ext cx="229576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Accessible from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any device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with a browser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28638" y="3124665"/>
            <a:ext cx="186996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Built-in AI assistance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with Gemini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28638" y="3450403"/>
            <a:ext cx="185042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Flexible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file management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options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28638" y="3776142"/>
            <a:ext cx="267396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12-hour runtime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 sessions with generous free tier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350669" y="1194457"/>
            <a:ext cx="34718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Next Steps</a:t>
            </a:r>
            <a:endParaRPr lang="en-US" sz="1397" dirty="0"/>
          </a:p>
        </p:txBody>
      </p:sp>
      <p:sp>
        <p:nvSpPr>
          <p:cNvPr id="14" name="Shape 11"/>
          <p:cNvSpPr/>
          <p:nvPr/>
        </p:nvSpPr>
        <p:spPr>
          <a:xfrm>
            <a:off x="5350669" y="1634496"/>
            <a:ext cx="3471863" cy="46147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5350669" y="1634496"/>
            <a:ext cx="3471863" cy="21431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16" name="Text 13"/>
          <p:cNvSpPr/>
          <p:nvPr/>
        </p:nvSpPr>
        <p:spPr>
          <a:xfrm>
            <a:off x="5493544" y="1773799"/>
            <a:ext cx="31861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Practice creating notebooks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350669" y="2256699"/>
            <a:ext cx="3471863" cy="46147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350669" y="2256699"/>
            <a:ext cx="3471863" cy="2143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5493544" y="2396003"/>
            <a:ext cx="31861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Explore runtime options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5350669" y="2878903"/>
            <a:ext cx="3471863" cy="46147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5350669" y="2878903"/>
            <a:ext cx="3471863" cy="21431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22" name="Text 19"/>
          <p:cNvSpPr/>
          <p:nvPr/>
        </p:nvSpPr>
        <p:spPr>
          <a:xfrm>
            <a:off x="5493544" y="3018206"/>
            <a:ext cx="31861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</a:rPr>
              <a:t>Experiment with file operations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5350669" y="3586832"/>
            <a:ext cx="3471863" cy="480054"/>
          </a:xfrm>
          <a:prstGeom prst="rect">
            <a:avLst/>
          </a:prstGeom>
          <a:solidFill>
            <a:srgbClr val="1A1F4D"/>
          </a:solidFill>
          <a:ln/>
        </p:spPr>
      </p:sp>
      <p:sp>
        <p:nvSpPr>
          <p:cNvPr id="24" name="Text 21"/>
          <p:cNvSpPr/>
          <p:nvPr/>
        </p:nvSpPr>
        <p:spPr>
          <a:xfrm>
            <a:off x="5522119" y="3729707"/>
            <a:ext cx="3128963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Start exploring Google Colab today!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27719" y="731537"/>
            <a:ext cx="268850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3731" b="1" dirty="0">
                <a:solidFill>
                  <a:srgbClr val="1A1F4D"/>
                </a:solidFill>
              </a:rPr>
              <a:t>Thank You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3742376" y="2074562"/>
            <a:ext cx="165922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4A5FE8"/>
                </a:solidFill>
              </a:rPr>
              <a:t>Questions?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3086351" y="3188987"/>
            <a:ext cx="2971242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A1F4D"/>
                </a:solidFill>
              </a:rPr>
              <a:t>Start exploring Google Colab today!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2949364" y="3691896"/>
            <a:ext cx="3245244" cy="66291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Shape 4"/>
          <p:cNvSpPr/>
          <p:nvPr/>
        </p:nvSpPr>
        <p:spPr>
          <a:xfrm>
            <a:off x="2949364" y="3691896"/>
            <a:ext cx="3245244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5"/>
          <p:cNvSpPr/>
          <p:nvPr/>
        </p:nvSpPr>
        <p:spPr>
          <a:xfrm>
            <a:off x="2949364" y="4326238"/>
            <a:ext cx="3245244" cy="28575"/>
          </a:xfrm>
          <a:prstGeom prst="rect">
            <a:avLst/>
          </a:prstGeom>
          <a:solidFill>
            <a:srgbClr val="4A5FE8"/>
          </a:solidFill>
          <a:ln/>
        </p:spPr>
      </p:sp>
      <p:sp>
        <p:nvSpPr>
          <p:cNvPr id="9" name="Text 6"/>
          <p:cNvSpPr/>
          <p:nvPr/>
        </p:nvSpPr>
        <p:spPr>
          <a:xfrm>
            <a:off x="3235114" y="3863346"/>
            <a:ext cx="267374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1A1F4D"/>
                </a:solidFill>
              </a:rPr>
              <a:t>colab.research.google.com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2025-11-17T10:05:26Z</dcterms:created>
  <dcterms:modified xsi:type="dcterms:W3CDTF">2025-11-17T10:05:26Z</dcterms:modified>
</cp:coreProperties>
</file>